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4"/>
  </p:notesMasterIdLst>
  <p:sldIdLst>
    <p:sldId id="256" r:id="rId2"/>
    <p:sldId id="262" r:id="rId3"/>
    <p:sldId id="263" r:id="rId4"/>
    <p:sldId id="265" r:id="rId5"/>
    <p:sldId id="257" r:id="rId6"/>
    <p:sldId id="258" r:id="rId7"/>
    <p:sldId id="259" r:id="rId8"/>
    <p:sldId id="260" r:id="rId9"/>
    <p:sldId id="261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8AAB2-7630-43B2-8832-6AA8661EBDFF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4D7E6-400B-453A-BA7D-77602EBB74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603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4D7E6-400B-453A-BA7D-77602EBB74F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399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6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1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9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9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9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8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9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4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2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9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6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69C3D-7CB1-1356-1C09-8857F3F49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684" y="170412"/>
            <a:ext cx="10178934" cy="1328730"/>
          </a:xfrm>
        </p:spPr>
        <p:txBody>
          <a:bodyPr>
            <a:normAutofit/>
          </a:bodyPr>
          <a:lstStyle/>
          <a:p>
            <a:r>
              <a:rPr lang="en-ZA" sz="5200" b="1">
                <a:latin typeface="Arial" panose="020B0604020202020204" pitchFamily="34" charset="0"/>
                <a:cs typeface="Arial" panose="020B0604020202020204" pitchFamily="34" charset="0"/>
              </a:rPr>
              <a:t>Bright Coffee 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E09C5-FD23-60CF-3C3B-4C493F46F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684" y="1670857"/>
            <a:ext cx="10178934" cy="557901"/>
          </a:xfrm>
        </p:spPr>
        <p:txBody>
          <a:bodyPr>
            <a:normAutofit/>
          </a:bodyPr>
          <a:lstStyle/>
          <a:p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Tendani Netshiendeulu</a:t>
            </a:r>
            <a:b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course: Data Science</a:t>
            </a:r>
          </a:p>
        </p:txBody>
      </p:sp>
      <p:pic>
        <p:nvPicPr>
          <p:cNvPr id="4" name="Picture 3" descr="A molecular model">
            <a:extLst>
              <a:ext uri="{FF2B5EF4-FFF2-40B4-BE49-F238E27FC236}">
                <a16:creationId xmlns:a16="http://schemas.microsoft.com/office/drawing/2014/main" id="{8EF2ADE4-CADA-579B-BC18-B1FDDE7CEC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0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Picture 7" descr="A logo of a coffee shop&#10;&#10;AI-generated content may be incorrect.">
            <a:extLst>
              <a:ext uri="{FF2B5EF4-FFF2-40B4-BE49-F238E27FC236}">
                <a16:creationId xmlns:a16="http://schemas.microsoft.com/office/drawing/2014/main" id="{D44B7DF4-80C6-B65C-B7E5-A88197E50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0" y="2400472"/>
            <a:ext cx="7694215" cy="445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6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51941-A6BB-9C51-BAA0-9F4031E9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Coffee Shop Data Analysis For The CEO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5EEF6-4B36-16CD-2B02-6A5BAC10C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CONTENT</a:t>
            </a:r>
          </a:p>
          <a:p>
            <a:pPr marL="0" indent="0">
              <a:buNone/>
            </a:pPr>
            <a:endParaRPr lang="en-ZA" dirty="0"/>
          </a:p>
          <a:p>
            <a:pPr>
              <a:buFont typeface="Wingdings" panose="05000000000000000000" pitchFamily="2" charset="2"/>
              <a:buChar char="v"/>
            </a:pPr>
            <a:r>
              <a:rPr lang="en-ZA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ZA" dirty="0"/>
              <a:t>DATA SYSTEMS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ZA" dirty="0"/>
              <a:t>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ZA" dirty="0"/>
              <a:t>RECOMMENDATION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ZA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45098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52B9-4826-EB93-B0D8-C1489D86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D278-A681-784C-909D-4A98131FE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7" y="18059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 </a:t>
            </a: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new CEO  mission is to grow the company’s revenue and improve product, my task as  a  data scientist  is to extract actionable insights from historical data to help him improve revenue and product performance within the stores.</a:t>
            </a:r>
          </a:p>
        </p:txBody>
      </p:sp>
    </p:spTree>
    <p:extLst>
      <p:ext uri="{BB962C8B-B14F-4D97-AF65-F5344CB8AC3E}">
        <p14:creationId xmlns:p14="http://schemas.microsoft.com/office/powerpoint/2010/main" val="294147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6AFCF-5FE8-AC99-2856-A6B1D3D2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Data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D4D64-686F-CAC8-1B1B-2E8A2BA94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89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Project Planning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Miro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Canva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Databricks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Data Visualisation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Microsoft Excel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Presentation &amp; Reporting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Microsoft PowerPoint</a:t>
            </a:r>
          </a:p>
        </p:txBody>
      </p:sp>
    </p:spTree>
    <p:extLst>
      <p:ext uri="{BB962C8B-B14F-4D97-AF65-F5344CB8AC3E}">
        <p14:creationId xmlns:p14="http://schemas.microsoft.com/office/powerpoint/2010/main" val="186074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0E834-AF72-29A8-FAC4-9AB1E12D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178312"/>
            <a:ext cx="11039168" cy="107038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A9711A9-3B67-D32C-28F4-E45356864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2016" y="1376516"/>
            <a:ext cx="5351958" cy="4555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BD1385-A186-8267-FA3B-478DCF35C492}"/>
              </a:ext>
            </a:extLst>
          </p:cNvPr>
          <p:cNvSpPr txBox="1"/>
          <p:nvPr/>
        </p:nvSpPr>
        <p:spPr>
          <a:xfrm>
            <a:off x="157316" y="1376516"/>
            <a:ext cx="49456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-The is an increase in revenue  from January to June for  6 month in both the three stores.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-Hell’s Kitchen store is one with the highest revenue 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-Astoria is the middle store, while lower Manhattan is  the one with the lowest revenue of all three stores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-both stores perfume well from May to June during winter seasons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279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73CF-AC2F-51F8-51EC-A09EA408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CBD75-1C9F-CBE6-941A-0DBBDB689162}"/>
              </a:ext>
            </a:extLst>
          </p:cNvPr>
          <p:cNvSpPr txBox="1"/>
          <p:nvPr/>
        </p:nvSpPr>
        <p:spPr>
          <a:xfrm>
            <a:off x="7452852" y="2070536"/>
            <a:ext cx="4739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-01. Low Spend bucket contributes  most of total revenue across in all three stores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 The store perform similarly in all three stores  in revenue with  Hell’s Kitchen being the leader and  Lower Manhattan being the second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FE802F-5F1C-9342-0AEA-8C90517AA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5" y="1425677"/>
            <a:ext cx="6779603" cy="469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4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C3DDC6B-6EB8-71D6-C6D7-A2B12EA3CF95}"/>
              </a:ext>
            </a:extLst>
          </p:cNvPr>
          <p:cNvSpPr txBox="1"/>
          <p:nvPr/>
        </p:nvSpPr>
        <p:spPr>
          <a:xfrm>
            <a:off x="6921910" y="1229033"/>
            <a:ext cx="47588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-01. rush hour period is the one with the highest revenue  in all three stores and lower Manhattan showing  high performance during early rush hour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-05. which is night time  is the second time where  revenue increases in all three stores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 During Mid-morning &amp; afternoon both stores  underperform, it’s the period with  the lowest revenue generator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1AA4E-6CF5-4011-43AC-62D71CD107EF}"/>
              </a:ext>
            </a:extLst>
          </p:cNvPr>
          <p:cNvSpPr txBox="1"/>
          <p:nvPr/>
        </p:nvSpPr>
        <p:spPr>
          <a:xfrm>
            <a:off x="334297" y="422787"/>
            <a:ext cx="4758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284BD-C382-551C-D81E-DAC4F39F3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45" y="1002890"/>
            <a:ext cx="6577781" cy="565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4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C15E-F6A8-3783-7F93-A875BF87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1DEB54-2E1A-A6EE-138D-DCB48AD21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6956" y="1523347"/>
            <a:ext cx="5827121" cy="4969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C20D60-866A-79C3-50A0-A5C43F746DB0}"/>
              </a:ext>
            </a:extLst>
          </p:cNvPr>
          <p:cNvSpPr txBox="1"/>
          <p:nvPr/>
        </p:nvSpPr>
        <p:spPr>
          <a:xfrm>
            <a:off x="267928" y="1690688"/>
            <a:ext cx="39009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-Hell’s Kitchen is the one that leading the most  on </a:t>
            </a:r>
            <a:r>
              <a:rPr lang="en-ZA" sz="2400" dirty="0" err="1">
                <a:latin typeface="Arial" panose="020B0604020202020204" pitchFamily="34" charset="0"/>
                <a:cs typeface="Arial" panose="020B0604020202020204" pitchFamily="34" charset="0"/>
              </a:rPr>
              <a:t>Fri,Tue</a:t>
            </a: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, Sun and also on Saturday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-Astoria doesn’t perfume well  on Tue, Sat, Sun  but revenue  is high on  Wed and Thu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-Lower Manhattan’s perfume very well on Mon</a:t>
            </a:r>
          </a:p>
          <a:p>
            <a:endParaRPr lang="en-ZA" dirty="0"/>
          </a:p>
          <a:p>
            <a:pPr marL="285750" indent="-285750">
              <a:buFontTx/>
              <a:buChar char="-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5436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8D1A-9B71-5548-0E3C-6D50D8C5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A0A501-1E52-7703-50DA-D6E9ED050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477" y="2099130"/>
            <a:ext cx="5485536" cy="3797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3DDAD-2901-B62D-12BA-30F6384522D0}"/>
              </a:ext>
            </a:extLst>
          </p:cNvPr>
          <p:cNvSpPr txBox="1"/>
          <p:nvPr/>
        </p:nvSpPr>
        <p:spPr>
          <a:xfrm>
            <a:off x="6754761" y="1690688"/>
            <a:ext cx="51422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-For all three stores Jan and </a:t>
            </a:r>
            <a:r>
              <a:rPr lang="en-ZA" sz="2400" dirty="0" err="1">
                <a:latin typeface="Arial" panose="020B0604020202020204" pitchFamily="34" charset="0"/>
                <a:cs typeface="Arial" panose="020B0604020202020204" pitchFamily="34" charset="0"/>
              </a:rPr>
              <a:t>feb</a:t>
            </a: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are  the months where they don’t make a lot of revenue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-Mar and Apr which are  the mid period the is  a transition phase from Jan and Feb which shows a rise in demand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-Peak months are May and Jun  because of the change in season the demand is high</a:t>
            </a:r>
          </a:p>
        </p:txBody>
      </p:sp>
    </p:spTree>
    <p:extLst>
      <p:ext uri="{BB962C8B-B14F-4D97-AF65-F5344CB8AC3E}">
        <p14:creationId xmlns:p14="http://schemas.microsoft.com/office/powerpoint/2010/main" val="259817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1319-F4BA-3D51-5D0C-70EE73D3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827"/>
            <a:ext cx="10515600" cy="105205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dirty="0"/>
              <a:t>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EA86E9-76FC-6A43-53F2-77EF589BA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2095" y="2310580"/>
            <a:ext cx="6526950" cy="43163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C00614-AD8A-7AF5-2B46-2B4FBF73C6A7}"/>
              </a:ext>
            </a:extLst>
          </p:cNvPr>
          <p:cNvSpPr txBox="1"/>
          <p:nvPr/>
        </p:nvSpPr>
        <p:spPr>
          <a:xfrm>
            <a:off x="68827" y="1347020"/>
            <a:ext cx="493579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-Coffee bring in more revenue than all the other </a:t>
            </a:r>
            <a:r>
              <a:rPr lang="en-ZA" sz="2400" dirty="0" err="1">
                <a:latin typeface="Arial" panose="020B0604020202020204" pitchFamily="34" charset="0"/>
                <a:cs typeface="Arial" panose="020B0604020202020204" pitchFamily="34" charset="0"/>
              </a:rPr>
              <a:t>products_category</a:t>
            </a: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in all the stores, with tea being the second category that brings in more revenue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-Flavours, Loose Tea, Packaged and  Branded product category are the ones that  contribute less in terms of revenue</a:t>
            </a: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-Hell’s Kitchen when is comes to Coffee and Coffee Beans is the leading store</a:t>
            </a:r>
          </a:p>
          <a:p>
            <a:pPr marL="285750" indent="-285750">
              <a:buFontTx/>
              <a:buChar char="-"/>
            </a:pPr>
            <a:endParaRPr lang="en-ZA" dirty="0"/>
          </a:p>
          <a:p>
            <a:pPr marL="285750" indent="-285750">
              <a:buFontTx/>
              <a:buChar char="-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1545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8FC8-891E-C594-9BFC-F6F7715B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B6B27-ED4F-7D3D-CD07-000133453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-Introduce promotions or discounts to lower </a:t>
            </a:r>
            <a:r>
              <a:rPr lang="en-ZA" sz="2600" dirty="0" err="1">
                <a:latin typeface="Arial" panose="020B0604020202020204" pitchFamily="34" charset="0"/>
                <a:cs typeface="Arial" panose="020B0604020202020204" pitchFamily="34" charset="0"/>
              </a:rPr>
              <a:t>manhattan</a:t>
            </a: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 store</a:t>
            </a:r>
          </a:p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-Introduce Seasonal campaigns for both lower </a:t>
            </a:r>
            <a:r>
              <a:rPr lang="en-ZA" sz="2600" dirty="0" err="1">
                <a:latin typeface="Arial" panose="020B0604020202020204" pitchFamily="34" charset="0"/>
                <a:cs typeface="Arial" panose="020B0604020202020204" pitchFamily="34" charset="0"/>
              </a:rPr>
              <a:t>manhattan</a:t>
            </a: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ZA" sz="2600" dirty="0" err="1">
                <a:latin typeface="Arial" panose="020B0604020202020204" pitchFamily="34" charset="0"/>
                <a:cs typeface="Arial" panose="020B0604020202020204" pitchFamily="34" charset="0"/>
              </a:rPr>
              <a:t>astoria</a:t>
            </a:r>
            <a:endParaRPr lang="en-ZA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-Introduce bundles or combo deals to lower spend customers</a:t>
            </a:r>
          </a:p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-Focus on growing   revenue during  mid-morning &amp; afternoon by introducing happy hour deals and Combo discounts</a:t>
            </a:r>
          </a:p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-Work on  Astoria’s weak days on Tue, Sat, Sun by doing local promotions such as offering  bundles</a:t>
            </a:r>
          </a:p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-Spend more on marketing during  Feb to Apr to increase demand</a:t>
            </a:r>
          </a:p>
          <a:p>
            <a:pPr marL="0" indent="0">
              <a:buNone/>
            </a:pPr>
            <a:r>
              <a:rPr lang="en-ZA" sz="2600" dirty="0">
                <a:latin typeface="Arial" panose="020B0604020202020204" pitchFamily="34" charset="0"/>
                <a:cs typeface="Arial" panose="020B0604020202020204" pitchFamily="34" charset="0"/>
              </a:rPr>
              <a:t>-Increase basket size by offering  Coffee and Bakery combos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5174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46BA-F22B-39A9-E8A9-6E4659A3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92A71-E9B9-6CF2-25BF-2AFC20BC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576F45D-8F50-1BA6-33AC-8A97A3A843F6}"/>
              </a:ext>
            </a:extLst>
          </p:cNvPr>
          <p:cNvSpPr/>
          <p:nvPr/>
        </p:nvSpPr>
        <p:spPr>
          <a:xfrm>
            <a:off x="747251" y="1828213"/>
            <a:ext cx="6921910" cy="3146910"/>
          </a:xfrm>
          <a:prstGeom prst="wedgeRoundRectCallou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3118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568</TotalTime>
  <Words>531</Words>
  <Application>Microsoft Office PowerPoint</Application>
  <PresentationFormat>Widescreen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Office 2013 - 2022 Theme</vt:lpstr>
      <vt:lpstr>Bright Coffee Shop</vt:lpstr>
      <vt:lpstr>Coffee Shop Data Analysis For The CEO</vt:lpstr>
      <vt:lpstr>Introduction</vt:lpstr>
      <vt:lpstr>Data Systems</vt:lpstr>
      <vt:lpstr>Analysis</vt:lpstr>
      <vt:lpstr>Analysis</vt:lpstr>
      <vt:lpstr>PowerPoint Presentation</vt:lpstr>
      <vt:lpstr>Analysis</vt:lpstr>
      <vt:lpstr>Analysis</vt:lpstr>
      <vt:lpstr>Analysis</vt:lpstr>
      <vt:lpstr>Recommendations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Tendani Netshiendeulu</dc:creator>
  <cp:lastModifiedBy>Tendani Netshiendeulu</cp:lastModifiedBy>
  <cp:revision>14</cp:revision>
  <dcterms:created xsi:type="dcterms:W3CDTF">2026-03-30T12:33:46Z</dcterms:created>
  <dcterms:modified xsi:type="dcterms:W3CDTF">2026-03-31T09:27:00Z</dcterms:modified>
</cp:coreProperties>
</file>